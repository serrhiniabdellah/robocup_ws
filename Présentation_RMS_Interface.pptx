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0D0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0"/>
            <a:ext cx="109728" cy="612648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0E5FF"/>
                </a:solidFill>
              </a:rPr>
              <a:t>RoboCup Rescue — Projet RMS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05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Interface IHM &amp; Intégration Globale du Système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6002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CCCCCC"/>
                </a:solidFill>
              </a:rPr>
              <a:t>Robot Management System — ROS 2 Jazzy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2103120"/>
            <a:ext cx="5760720" cy="4572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2286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0096C0"/>
                </a:solidFill>
              </a:rPr>
              <a:t>📡  LIDAR  |  🦾  Bras  |  📷  Caméra  |  🕹️  IHM  |  🤖  Navigation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0D0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29107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IATIC4 — Groupe RMS — 2024 / 2025   |   UVSQ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0D0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457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E5FF"/>
                </a:solidFill>
              </a:rPr>
              <a:t>Plan de la présentation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502920"/>
            <a:ext cx="11274552" cy="54864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822960"/>
            <a:ext cx="5669280" cy="1188720"/>
          </a:xfrm>
          <a:prstGeom prst="rect">
            <a:avLst/>
          </a:prstGeom>
          <a:solidFill>
            <a:srgbClr val="0D0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822960"/>
            <a:ext cx="502920" cy="118872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9768" y="1170432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5051A"/>
                </a:solidFill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914400"/>
            <a:ext cx="4983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Présentation du projet RMS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353312"/>
            <a:ext cx="4983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</a:rPr>
              <a:t>Contexte, objectifs et architecture générale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822960"/>
            <a:ext cx="5669280" cy="1188720"/>
          </a:xfrm>
          <a:prstGeom prst="rect">
            <a:avLst/>
          </a:prstGeom>
          <a:solidFill>
            <a:srgbClr val="0D0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822960"/>
            <a:ext cx="502920" cy="118872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73368" y="1170432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5051A"/>
                </a:solidFill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03720" y="914400"/>
            <a:ext cx="4983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Architecture du système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03720" y="1353312"/>
            <a:ext cx="4983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</a:rPr>
              <a:t>Modules ROS 2, interfaces et communication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148840"/>
            <a:ext cx="5669280" cy="1188720"/>
          </a:xfrm>
          <a:prstGeom prst="rect">
            <a:avLst/>
          </a:prstGeom>
          <a:solidFill>
            <a:srgbClr val="0D0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2148840"/>
            <a:ext cx="502920" cy="118872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9768" y="2496312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5051A"/>
                </a:solidFill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2240280"/>
            <a:ext cx="4983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Module Navigation &amp; LIDAR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2679192"/>
            <a:ext cx="4983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</a:rPr>
              <a:t>Exploration, cartographie, détection d'obstacles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9360" y="2148840"/>
            <a:ext cx="5669280" cy="1188720"/>
          </a:xfrm>
          <a:prstGeom prst="rect">
            <a:avLst/>
          </a:prstGeom>
          <a:solidFill>
            <a:srgbClr val="0D0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09360" y="2148840"/>
            <a:ext cx="502920" cy="118872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73368" y="2496312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5051A"/>
                </a:solidFill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03720" y="2240280"/>
            <a:ext cx="4983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Module Bras Robotique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2679192"/>
            <a:ext cx="4983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</a:rPr>
              <a:t>Contrôle automatique et manuel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3474720"/>
            <a:ext cx="5669280" cy="1188720"/>
          </a:xfrm>
          <a:prstGeom prst="rect">
            <a:avLst/>
          </a:prstGeom>
          <a:solidFill>
            <a:srgbClr val="0D0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65760" y="3474720"/>
            <a:ext cx="502920" cy="118872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9768" y="3822191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5051A"/>
                </a:solidFill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" y="3566160"/>
            <a:ext cx="4983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Module Vision (Caméra)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" y="4005072"/>
            <a:ext cx="4983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</a:rPr>
              <a:t>Flux vidéo, traitement HSV, QR Code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09360" y="3474720"/>
            <a:ext cx="5669280" cy="1188720"/>
          </a:xfrm>
          <a:prstGeom prst="rect">
            <a:avLst/>
          </a:prstGeom>
          <a:solidFill>
            <a:srgbClr val="0D0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309360" y="3474720"/>
            <a:ext cx="502920" cy="118872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73368" y="3822191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5051A"/>
                </a:solidFill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03720" y="3566160"/>
            <a:ext cx="4983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Module Interface IHM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03720" y="4005072"/>
            <a:ext cx="4983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</a:rPr>
              <a:t>Dashboard Web, rosbridge, contrôle robot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4800600"/>
            <a:ext cx="5669280" cy="1188720"/>
          </a:xfrm>
          <a:prstGeom prst="rect">
            <a:avLst/>
          </a:prstGeom>
          <a:solidFill>
            <a:srgbClr val="0D0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65760" y="4800600"/>
            <a:ext cx="502920" cy="118872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29768" y="5148072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5051A"/>
                </a:solidFill>
              </a:rPr>
              <a:t>07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0120" y="4892040"/>
            <a:ext cx="4983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Intégration &amp; Tests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0120" y="5330952"/>
            <a:ext cx="4983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</a:rPr>
              <a:t>ROS 2, launch files, simulation Docker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09360" y="4800600"/>
            <a:ext cx="5669280" cy="1188720"/>
          </a:xfrm>
          <a:prstGeom prst="rect">
            <a:avLst/>
          </a:prstGeom>
          <a:solidFill>
            <a:srgbClr val="0D0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309360" y="4800600"/>
            <a:ext cx="502920" cy="118872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73368" y="5148072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5051A"/>
                </a:solidFill>
              </a:rPr>
              <a:t>08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03720" y="4892040"/>
            <a:ext cx="4983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Conclusion &amp; Perspectives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03720" y="5330952"/>
            <a:ext cx="4983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</a:rPr>
              <a:t>Résultats, améliorations futures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0D0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457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E5FF"/>
                </a:solidFill>
              </a:rPr>
              <a:t>01 — Présentation du projet RMS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502920"/>
            <a:ext cx="11274552" cy="54864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56692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</a:rPr>
              <a:t>Robot d'assistance en mission Rescue (Sauvetage) — Compétition RoboCup 2024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96012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E5FF"/>
                </a:solidFill>
              </a:rPr>
              <a:t>Contexte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298448"/>
            <a:ext cx="53035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200" b="0">
                <a:solidFill>
                  <a:srgbClr val="CCCCCC"/>
                </a:solidFill>
              </a:rPr>
              <a:t>La compétition RoboCup Rescue met en scène des robots autonomes et semi-autonomes capables de naviguer dans des environnements sinistrés pour localiser des victimes.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CCCCCC"/>
                </a:solidFill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CCCCCC"/>
                </a:solidFill>
              </a:rPr>
              <a:t>Notre robot est équipé d'un LIDAR, d'une caméra, de flippers, d'un bras robotique et d'un accéléromètre, tous coordonnés via ROS 2.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96012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E5FF"/>
                </a:solidFill>
              </a:rPr>
              <a:t>Objectifs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298448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CCCC"/>
                </a:solidFill>
              </a:rPr>
              <a:t>🗺️  Navigation autonome et cartographie LIDAR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73736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CCCC"/>
                </a:solidFill>
              </a:rPr>
              <a:t>🦾  Contrôle précis du bras robotique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176272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CCCC"/>
                </a:solidFill>
              </a:rPr>
              <a:t>📷  Surveillance vidéo en temps réel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615184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CCCC"/>
                </a:solidFill>
              </a:rPr>
              <a:t>🕹️  Interface de pilotage à distance (IHM Web)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054096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CCCC"/>
                </a:solidFill>
              </a:rPr>
              <a:t>📱  Application Android de supervision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3493008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CCCC"/>
                </a:solidFill>
              </a:rPr>
              <a:t>🔗  Intégration complète sous ROS 2 Jazzy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0D0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6364224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0096C0"/>
                </a:solidFill>
              </a:rPr>
              <a:t>Technologie : ROS 2 Jazzy  ●  C++17  ●  Python 3  ●  WebSocket / roslibjs  ●  Docker  ●  Kotlin (Android)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0D0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457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E5FF"/>
                </a:solidFill>
              </a:rPr>
              <a:t>02 — Architecture du système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502920"/>
            <a:ext cx="11274552" cy="54864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56692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</a:rPr>
              <a:t>Tous les modules communiquent via des topics et services ROS 2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914400"/>
            <a:ext cx="2743200" cy="1645920"/>
          </a:xfrm>
          <a:prstGeom prst="rect">
            <a:avLst/>
          </a:prstGeom>
          <a:solidFill>
            <a:srgbClr val="0D0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914400"/>
            <a:ext cx="2743200" cy="34747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950976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5051A"/>
                </a:solidFill>
              </a:rPr>
              <a:t>LIDAR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298448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0E5FF"/>
                </a:solidFill>
              </a:rPr>
              <a:t>rms_lidar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1627632"/>
            <a:ext cx="25420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CCCCCC"/>
                </a:solidFill>
              </a:rPr>
              <a:t>sensor_msgs/LaserScan
/scan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914400"/>
            <a:ext cx="2743200" cy="1645920"/>
          </a:xfrm>
          <a:prstGeom prst="rect">
            <a:avLst/>
          </a:prstGeom>
          <a:solidFill>
            <a:srgbClr val="0D0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46120" y="914400"/>
            <a:ext cx="2743200" cy="34747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37560" y="950976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5051A"/>
                </a:solidFill>
              </a:rPr>
              <a:t>Navigation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37560" y="1298448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0E5FF"/>
                </a:solidFill>
              </a:rPr>
              <a:t>rms_navigation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55848" y="1627632"/>
            <a:ext cx="25420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CCCCCC"/>
                </a:solidFill>
              </a:rPr>
              <a:t>nav_msgs/OccupancyGrid
/map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914400"/>
            <a:ext cx="2743200" cy="1645920"/>
          </a:xfrm>
          <a:prstGeom prst="rect">
            <a:avLst/>
          </a:prstGeom>
          <a:solidFill>
            <a:srgbClr val="0D0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914400"/>
            <a:ext cx="2743200" cy="34747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59" y="950976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5051A"/>
                </a:solidFill>
              </a:rPr>
              <a:t>Caméra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59" y="1298448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0E5FF"/>
                </a:solidFill>
              </a:rPr>
              <a:t>rms_camera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27648" y="1627632"/>
            <a:ext cx="25420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CCCCCC"/>
                </a:solidFill>
              </a:rPr>
              <a:t>sensor_msgs/CompressedImage
/cv_camera/image_raw/compressed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89720" y="914400"/>
            <a:ext cx="2743200" cy="1645920"/>
          </a:xfrm>
          <a:prstGeom prst="rect">
            <a:avLst/>
          </a:prstGeom>
          <a:solidFill>
            <a:srgbClr val="0D0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89720" y="914400"/>
            <a:ext cx="2743200" cy="34747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81160" y="950976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5051A"/>
                </a:solidFill>
              </a:rPr>
              <a:t>Bras Auto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81160" y="1298448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0E5FF"/>
                </a:solidFill>
              </a:rPr>
              <a:t>rms_bras_auto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99448" y="1627632"/>
            <a:ext cx="25420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CCCCCC"/>
                </a:solidFill>
              </a:rPr>
              <a:t>std_msgs/Int16MultiArray
/choix_pos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2743200"/>
            <a:ext cx="2743200" cy="1645920"/>
          </a:xfrm>
          <a:prstGeom prst="rect">
            <a:avLst/>
          </a:prstGeom>
          <a:solidFill>
            <a:srgbClr val="0D0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74320" y="2743200"/>
            <a:ext cx="2743200" cy="34747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60" y="2779776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5051A"/>
                </a:solidFill>
              </a:rPr>
              <a:t>Bras Manuel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3127248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0E5FF"/>
                </a:solidFill>
              </a:rPr>
              <a:t>rms_bras_manuel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4048" y="3456432"/>
            <a:ext cx="25420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CCCCCC"/>
                </a:solidFill>
              </a:rPr>
              <a:t>sensor_msgs/Joy
/joy_ihm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46120" y="2743200"/>
            <a:ext cx="2743200" cy="1645920"/>
          </a:xfrm>
          <a:prstGeom prst="rect">
            <a:avLst/>
          </a:prstGeom>
          <a:solidFill>
            <a:srgbClr val="0D0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246120" y="2743200"/>
            <a:ext cx="2743200" cy="34747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337560" y="2779776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5051A"/>
                </a:solidFill>
              </a:rPr>
              <a:t>Accéléro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37560" y="3127248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0E5FF"/>
                </a:solidFill>
              </a:rPr>
              <a:t>rms_accelero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55848" y="3456432"/>
            <a:ext cx="25420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CCCCCC"/>
                </a:solidFill>
              </a:rPr>
              <a:t>std_msgs/Int32
/inclinaison1, /inclinaison2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17920" y="2743200"/>
            <a:ext cx="2743200" cy="1645920"/>
          </a:xfrm>
          <a:prstGeom prst="rect">
            <a:avLst/>
          </a:prstGeom>
          <a:solidFill>
            <a:srgbClr val="0D0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217920" y="2743200"/>
            <a:ext cx="2743200" cy="34747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09359" y="2779776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5051A"/>
                </a:solidFill>
              </a:rPr>
              <a:t>IHM Web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09359" y="3127248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0E5FF"/>
                </a:solidFill>
              </a:rPr>
              <a:t>rosbridge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27648" y="3456432"/>
            <a:ext cx="25420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CCCCCC"/>
                </a:solidFill>
              </a:rPr>
              <a:t>WebSocket ws://robot:9090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189720" y="2743200"/>
            <a:ext cx="2743200" cy="1645920"/>
          </a:xfrm>
          <a:prstGeom prst="rect">
            <a:avLst/>
          </a:prstGeom>
          <a:solidFill>
            <a:srgbClr val="0D0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189720" y="2743200"/>
            <a:ext cx="2743200" cy="34747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281160" y="2779776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5051A"/>
                </a:solidFill>
              </a:rPr>
              <a:t>Android App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81160" y="3127248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0E5FF"/>
                </a:solidFill>
              </a:rPr>
              <a:t>RoboCup App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99448" y="3456432"/>
            <a:ext cx="25420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CCCCCC"/>
                </a:solidFill>
              </a:rPr>
              <a:t>API REST / rosbridge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5760" y="46177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0E5FF"/>
                </a:solidFill>
              </a:rPr>
              <a:t>⟷  Communication inter-modules via DDS (ROS 2)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57200" y="5010912"/>
            <a:ext cx="11274552" cy="45720"/>
          </a:xfrm>
          <a:prstGeom prst="rect">
            <a:avLst/>
          </a:prstGeom>
          <a:solidFill>
            <a:srgbClr val="009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512064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rms_interfaces : messages et services partagés entre tous les nodes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0D0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457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E5FF"/>
                </a:solidFill>
              </a:rPr>
              <a:t>03 — Module Navigation &amp; LIDAR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502920"/>
            <a:ext cx="11274552" cy="54864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56692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</a:rPr>
              <a:t>Exploration automatique, cartographie Hector SLAM et détection d'obstacles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914400"/>
            <a:ext cx="3474720" cy="2194560"/>
          </a:xfrm>
          <a:prstGeom prst="rect">
            <a:avLst/>
          </a:prstGeom>
          <a:solidFill>
            <a:srgbClr val="0D0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914400"/>
            <a:ext cx="54864" cy="219456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9768" y="987552"/>
            <a:ext cx="32918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E5FF"/>
                </a:solidFill>
              </a:rPr>
              <a:t>📡  Capteur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" y="1298448"/>
            <a:ext cx="3218687" cy="1691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 b="0">
                <a:solidFill>
                  <a:srgbClr val="CCCCCC"/>
                </a:solidFill>
              </a:rPr>
              <a:t>• Hokuyo UST-10LX (LIDAR 2D)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CCCCCC"/>
                </a:solidFill>
              </a:rPr>
              <a:t>• Driver : urg_node2 (ROS 2)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CCCCCC"/>
                </a:solidFill>
              </a:rPr>
              <a:t>• Plage : 0.06 m → 10 m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CCCCCC"/>
                </a:solidFill>
              </a:rPr>
              <a:t>• Fréquence : 25 Hz / 270°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CCCCCC"/>
                </a:solidFill>
              </a:rPr>
              <a:t>• Topic : /scan → LaserScan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77639" y="914400"/>
            <a:ext cx="3474720" cy="2194560"/>
          </a:xfrm>
          <a:prstGeom prst="rect">
            <a:avLst/>
          </a:prstGeom>
          <a:solidFill>
            <a:srgbClr val="0D0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977639" y="914400"/>
            <a:ext cx="54864" cy="219456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87368" y="987552"/>
            <a:ext cx="32918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E5FF"/>
                </a:solidFill>
              </a:rPr>
              <a:t>🗺️  Cartographie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23944" y="1298448"/>
            <a:ext cx="3218687" cy="1691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 b="0">
                <a:solidFill>
                  <a:srgbClr val="CCCCCC"/>
                </a:solidFill>
              </a:rPr>
              <a:t>• Hector Mapping (SLAM sans odométrie)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CCCCCC"/>
                </a:solidFill>
              </a:rPr>
              <a:t>• Topic sortie : /map (OccupancyGrid)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CCCCCC"/>
                </a:solidFill>
              </a:rPr>
              <a:t>• Sauvegarde GeoTIFF via hector_geotiff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CCCCCC"/>
                </a:solidFill>
              </a:rPr>
              <a:t>• Launch : hector_mapping.launch.py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35240" y="914400"/>
            <a:ext cx="4206240" cy="2194560"/>
          </a:xfrm>
          <a:prstGeom prst="rect">
            <a:avLst/>
          </a:prstGeom>
          <a:solidFill>
            <a:srgbClr val="0D0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635240" y="914400"/>
            <a:ext cx="54864" cy="219456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44967" y="987552"/>
            <a:ext cx="402335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E5FF"/>
                </a:solidFill>
              </a:rPr>
              <a:t>🤖  Exploration Intelligente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81544" y="1298448"/>
            <a:ext cx="3950207" cy="1691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 b="0">
                <a:solidFill>
                  <a:srgbClr val="CCCCCC"/>
                </a:solidFill>
              </a:rPr>
              <a:t>• Exploration automatique (Frontier-based)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CCCCCC"/>
                </a:solidFill>
              </a:rPr>
              <a:t>• Exploration_Publisher.cpp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CCCCCC"/>
                </a:solidFill>
              </a:rPr>
              <a:t>• Arrêt si obstacle &lt; seuil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CCCCCC"/>
                </a:solidFill>
              </a:rPr>
              <a:t>• Récupération des données auto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CCCCCC"/>
                </a:solidFill>
              </a:rPr>
              <a:t>• Mode Rescue.cpp : priorité sauvetage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3337560"/>
            <a:ext cx="4983480" cy="2286000"/>
          </a:xfrm>
          <a:prstGeom prst="rect">
            <a:avLst/>
          </a:prstGeom>
          <a:solidFill>
            <a:srgbClr val="0D0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" y="3337560"/>
            <a:ext cx="54864" cy="22860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9768" y="3410712"/>
            <a:ext cx="4800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E5FF"/>
                </a:solidFill>
              </a:rPr>
              <a:t>⚙️  Launch Lidar.launch.py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6344" y="3721608"/>
            <a:ext cx="4727448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 b="0">
                <a:solidFill>
                  <a:srgbClr val="CCCCCC"/>
                </a:solidFill>
              </a:rPr>
              <a:t>• Lance urg_node2 pour le LIDAR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CCCCCC"/>
                </a:solidFill>
              </a:rPr>
              <a:t>• Lance hector_mapping pour la carte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CCCCCC"/>
                </a:solidFill>
              </a:rPr>
              <a:t>• Lance hector_geotiff pour l'export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CCCCCC"/>
                </a:solidFill>
              </a:rPr>
              <a:t>• Configurable : port USB, IP robot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CCCCCC"/>
                </a:solidFill>
              </a:rPr>
              <a:t>• Mode Docker ou natif ROS 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0" y="3337560"/>
            <a:ext cx="6309360" cy="2286000"/>
          </a:xfrm>
          <a:prstGeom prst="rect">
            <a:avLst/>
          </a:prstGeom>
          <a:solidFill>
            <a:srgbClr val="0D0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0" y="3337560"/>
            <a:ext cx="54864" cy="22860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596128" y="3410712"/>
            <a:ext cx="6126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E5FF"/>
                </a:solidFill>
              </a:rPr>
              <a:t>📡  Visualisation IHM — Canvas LIDAR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32704" y="3721608"/>
            <a:ext cx="6053328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 b="0">
                <a:solidFill>
                  <a:srgbClr val="CCCCCC"/>
                </a:solidFill>
              </a:rPr>
              <a:t>• Page vision_lidar.html dans l'IHM Web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CCCCCC"/>
                </a:solidFill>
              </a:rPr>
              <a:t>• Abonné au topic /scan via roslibjs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CCCCCC"/>
                </a:solidFill>
              </a:rPr>
              <a:t>• Dessin HTML5 Canvas en temps réel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CCCCCC"/>
                </a:solidFill>
              </a:rPr>
              <a:t>• Couleurs dynamiques : rouge=proche / vert=loin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CCCCCC"/>
                </a:solidFill>
              </a:rPr>
              <a:t>• Cercles de distance + labels AVANT/ARRIÈRE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CCCCCC"/>
                </a:solidFill>
              </a:rPr>
              <a:t>• Compteur de points valides en temps réel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0D0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457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E5FF"/>
                </a:solidFill>
              </a:rPr>
              <a:t>04 — Module Bras Robotique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502920"/>
            <a:ext cx="11274552" cy="54864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56692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</a:rPr>
              <a:t>Contrôle automatique (trajectoires pré-définies) + Manuel (IHM sliders)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914400"/>
            <a:ext cx="5486400" cy="2468880"/>
          </a:xfrm>
          <a:prstGeom prst="rect">
            <a:avLst/>
          </a:prstGeom>
          <a:solidFill>
            <a:srgbClr val="0D0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914400"/>
            <a:ext cx="54864" cy="246888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9768" y="987552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E5FF"/>
                </a:solidFill>
              </a:rPr>
              <a:t>🦾  Bras Automatique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" y="1298448"/>
            <a:ext cx="5230368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 b="0">
                <a:solidFill>
                  <a:srgbClr val="CCCCCC"/>
                </a:solidFill>
              </a:rPr>
              <a:t>• Package : rms_bras_automatique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CCCCCC"/>
                </a:solidFill>
              </a:rPr>
              <a:t>• Positions pré-définies : Rangement, Déploiement, Haute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CCCCCC"/>
                </a:solidFill>
              </a:rPr>
              <a:t>• Service ROS 2 : /bras_position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CCCCCC"/>
                </a:solidFill>
              </a:rPr>
              <a:t>• C++ : BrasAutomatique.cpp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CCCCCC"/>
                </a:solidFill>
              </a:rPr>
              <a:t>• Retour de position via feedback topic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CCCCCC"/>
                </a:solidFill>
              </a:rPr>
              <a:t>• Intégré au launch Rescue.launch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89320" y="914400"/>
            <a:ext cx="5852160" cy="2468880"/>
          </a:xfrm>
          <a:prstGeom prst="rect">
            <a:avLst/>
          </a:prstGeom>
          <a:solidFill>
            <a:srgbClr val="0D0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89320" y="914400"/>
            <a:ext cx="54864" cy="246888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99048" y="987552"/>
            <a:ext cx="5669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E5FF"/>
                </a:solidFill>
              </a:rPr>
              <a:t>🎮  Bras Manuel — IHM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35624" y="1298448"/>
            <a:ext cx="5596128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 b="0">
                <a:solidFill>
                  <a:srgbClr val="CCCCCC"/>
                </a:solidFill>
              </a:rPr>
              <a:t>• Page deplacement_bras.html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CCCCCC"/>
                </a:solidFill>
              </a:rPr>
              <a:t>• 6 sliders : X, Y, Z (déplacements) + RX, RY, RZ (rotations)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CCCCCC"/>
                </a:solidFill>
              </a:rPr>
              <a:t>• Publié sur /choix_pos (Int16MultiArray)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CCCCCC"/>
                </a:solidFill>
              </a:rPr>
              <a:t>• Boutons rapides : Rangement / Déploiement / Position haute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CCCCCC"/>
                </a:solidFill>
              </a:rPr>
              <a:t>• Valeurs persistées entre actions (objet sliderValues)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CCCCCC"/>
                </a:solidFill>
              </a:rPr>
              <a:t>• Clavier configurable à venir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356616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E5FF"/>
                </a:solidFill>
              </a:rPr>
              <a:t>Flux de contrôle du bras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3931920"/>
            <a:ext cx="11521440" cy="45720"/>
          </a:xfrm>
          <a:prstGeom prst="rect">
            <a:avLst/>
          </a:prstGeom>
          <a:solidFill>
            <a:srgbClr val="44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4114800"/>
            <a:ext cx="2286000" cy="1371600"/>
          </a:xfrm>
          <a:prstGeom prst="rect">
            <a:avLst/>
          </a:prstGeom>
          <a:solidFill>
            <a:srgbClr val="0D0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5760" y="4114800"/>
            <a:ext cx="2286000" cy="32004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414223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5051A"/>
                </a:solidFill>
              </a:rPr>
              <a:t>IHM Web
(sliders)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526280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CCCCCC"/>
                </a:solidFill>
              </a:rPr>
              <a:t>publier
/choix_pos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15768" y="461772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0E5FF"/>
                </a:solidFill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91840" y="4114800"/>
            <a:ext cx="2286000" cy="1371600"/>
          </a:xfrm>
          <a:prstGeom prst="rect">
            <a:avLst/>
          </a:prstGeom>
          <a:solidFill>
            <a:srgbClr val="0D0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291840" y="4114800"/>
            <a:ext cx="2286000" cy="32004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83280" y="414223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5051A"/>
                </a:solidFill>
              </a:rPr>
              <a:t>Node Bras
(ROS 2)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83280" y="4526280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CCCCCC"/>
                </a:solidFill>
              </a:rPr>
              <a:t>commandes
servo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41848" y="461772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0E5FF"/>
                </a:solidFill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0" y="4114800"/>
            <a:ext cx="2286000" cy="1371600"/>
          </a:xfrm>
          <a:prstGeom prst="rect">
            <a:avLst/>
          </a:prstGeom>
          <a:solidFill>
            <a:srgbClr val="0D0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17920" y="4114800"/>
            <a:ext cx="2286000" cy="32004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09360" y="414223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5051A"/>
                </a:solidFill>
              </a:rPr>
              <a:t>Contrôleur
Sabre/PWM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60" y="4526280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CCCCCC"/>
                </a:solidFill>
              </a:rPr>
              <a:t>mouvement
moteurs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67928" y="461772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0E5FF"/>
                </a:solidFill>
              </a:rPr>
              <a:t>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144000" y="4114800"/>
            <a:ext cx="2286000" cy="1371600"/>
          </a:xfrm>
          <a:prstGeom prst="rect">
            <a:avLst/>
          </a:prstGeom>
          <a:solidFill>
            <a:srgbClr val="0D0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144000" y="4114800"/>
            <a:ext cx="2286000" cy="32004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235440" y="414223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5051A"/>
                </a:solidFill>
              </a:rPr>
              <a:t>Feedback
Position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35440" y="4526280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CCCCCC"/>
                </a:solidFill>
              </a:rPr>
              <a:t>topic
/bras_retour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0D0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457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E5FF"/>
                </a:solidFill>
              </a:rPr>
              <a:t>05 — Module Vision (Caméra &amp; QR Code)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502920"/>
            <a:ext cx="11274552" cy="54864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56692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</a:rPr>
              <a:t>Flux vidéo temps réel, traitement HSV, détection QR Code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914400"/>
            <a:ext cx="3657600" cy="2377440"/>
          </a:xfrm>
          <a:prstGeom prst="rect">
            <a:avLst/>
          </a:prstGeom>
          <a:solidFill>
            <a:srgbClr val="0D0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914400"/>
            <a:ext cx="54864" cy="237744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9768" y="987552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E5FF"/>
                </a:solidFill>
              </a:rPr>
              <a:t>📷  Caméra Économique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" y="1298448"/>
            <a:ext cx="3401568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 b="0">
                <a:solidFill>
                  <a:srgbClr val="CCCCCC"/>
                </a:solidFill>
              </a:rPr>
              <a:t>• Package : rms_camera_economique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CCCCCC"/>
                </a:solidFill>
              </a:rPr>
              <a:t>• Driver : cv_camera (OpenCV → ROS 2)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CCCCCC"/>
                </a:solidFill>
              </a:rPr>
              <a:t>• Topic : /cv_camera/image_raw/compressed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CCCCCC"/>
                </a:solidFill>
              </a:rPr>
              <a:t>• Format : CompressedImage (JPEG)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CCCCCC"/>
                </a:solidFill>
              </a:rPr>
              <a:t>• Calibration HSV via service ROS 2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CCCCCC"/>
                </a:solidFill>
              </a:rPr>
              <a:t>• Résolution configurable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60520" y="914400"/>
            <a:ext cx="3657600" cy="2377440"/>
          </a:xfrm>
          <a:prstGeom prst="rect">
            <a:avLst/>
          </a:prstGeom>
          <a:solidFill>
            <a:srgbClr val="0D0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60520" y="914400"/>
            <a:ext cx="54864" cy="237744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70248" y="987552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E5FF"/>
                </a:solidFill>
              </a:rPr>
              <a:t>📱  QR Code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06824" y="1298448"/>
            <a:ext cx="3401568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 b="0">
                <a:solidFill>
                  <a:srgbClr val="CCCCCC"/>
                </a:solidFill>
              </a:rPr>
              <a:t>• Package : rms_qrcode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CCCCCC"/>
                </a:solidFill>
              </a:rPr>
              <a:t>• Bibliothèque : ZBar / OpenCV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CCCCCC"/>
                </a:solidFill>
              </a:rPr>
              <a:t>• Décode les QR Codes en temps réel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CCCCCC"/>
                </a:solidFill>
              </a:rPr>
              <a:t>• Publie le contenu sur /qrcode_data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CCCCCC"/>
                </a:solidFill>
              </a:rPr>
              <a:t>• Utile pour identifier les victimes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CCCCCC"/>
                </a:solidFill>
              </a:rPr>
              <a:t>• Intégré dans le pipeline Rescue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01000" y="914400"/>
            <a:ext cx="3840480" cy="2377440"/>
          </a:xfrm>
          <a:prstGeom prst="rect">
            <a:avLst/>
          </a:prstGeom>
          <a:solidFill>
            <a:srgbClr val="0D0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01000" y="914400"/>
            <a:ext cx="54864" cy="237744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10727" y="987552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E5FF"/>
                </a:solidFill>
              </a:rPr>
              <a:t>👁️  Détection Mouvement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47304" y="1298448"/>
            <a:ext cx="3584448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 b="0">
                <a:solidFill>
                  <a:srgbClr val="CCCCCC"/>
                </a:solidFill>
              </a:rPr>
              <a:t>• Package : rms_detection_mouvement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CCCCCC"/>
                </a:solidFill>
              </a:rPr>
              <a:t>• Analyse de flux caméra frame à frame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CCCCCC"/>
                </a:solidFill>
              </a:rPr>
              <a:t>• Soustraction de fond (BackgroundSubtractor)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CCCCCC"/>
                </a:solidFill>
              </a:rPr>
              <a:t>• Topic : /mouvement_detecte (Bool)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CCCCCC"/>
                </a:solidFill>
              </a:rPr>
              <a:t>• Déclenche une alarme sur l'IHM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3474720"/>
            <a:ext cx="6858000" cy="2331720"/>
          </a:xfrm>
          <a:prstGeom prst="rect">
            <a:avLst/>
          </a:prstGeom>
          <a:solidFill>
            <a:srgbClr val="0D0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" y="3474720"/>
            <a:ext cx="54864" cy="233172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9768" y="3547872"/>
            <a:ext cx="6675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E5FF"/>
                </a:solidFill>
              </a:rPr>
              <a:t>🖥️  Visualisation Caméra — IHM Web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6344" y="3858768"/>
            <a:ext cx="6601968" cy="1828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 b="0">
                <a:solidFill>
                  <a:srgbClr val="CCCCCC"/>
                </a:solidFill>
              </a:rPr>
              <a:t>• Page vision_camera.html dans le dashboard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CCCCCC"/>
                </a:solidFill>
              </a:rPr>
              <a:t>• Abonnée au topic /cv_camera/image_raw/compressed via roslib.js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CCCCCC"/>
                </a:solidFill>
              </a:rPr>
              <a:t>• Affichage de l'image Base64 dans un &lt;img&gt; (id unique)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CCCCCC"/>
                </a:solidFill>
              </a:rPr>
              <a:t>• Message 'En attente du flux...' si aucune image reçue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CCCCCC"/>
                </a:solidFill>
              </a:rPr>
              <a:t>• Indicateur 🟢/🔴 de connexion ROS en temps réel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60920" y="3474720"/>
            <a:ext cx="4480560" cy="2331720"/>
          </a:xfrm>
          <a:prstGeom prst="rect">
            <a:avLst/>
          </a:prstGeom>
          <a:solidFill>
            <a:srgbClr val="0D0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60920" y="3474720"/>
            <a:ext cx="54864" cy="233172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70648" y="3547872"/>
            <a:ext cx="4297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E5FF"/>
                </a:solidFill>
              </a:rPr>
              <a:t>🎥  Caméra 8MP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07224" y="3858768"/>
            <a:ext cx="4224528" cy="1828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 b="0">
                <a:solidFill>
                  <a:srgbClr val="CCCCCC"/>
                </a:solidFill>
              </a:rPr>
              <a:t>• Package : rms_flux_8mp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CCCCCC"/>
                </a:solidFill>
              </a:rPr>
              <a:t>• Caméra haute résolution Pi Camera v2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CCCCCC"/>
                </a:solidFill>
              </a:rPr>
              <a:t>• Flux MJPEG haute qualité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CCCCCC"/>
                </a:solidFill>
              </a:rPr>
              <a:t>• Launch : Flux_8MP.launch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CCCCCC"/>
                </a:solidFill>
              </a:rPr>
              <a:t>• Utilisée pour l'inspection fine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0D0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457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E5FF"/>
                </a:solidFill>
              </a:rPr>
              <a:t>06 — Module Interface IHM (détail)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502920"/>
            <a:ext cx="11274552" cy="54864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56692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</a:rPr>
              <a:t>Dashboard Web 4 panneaux — ROS bridge WebSocket — roslibjs</a:t>
            </a:r>
          </a:p>
        </p:txBody>
      </p:sp>
      <p:sp>
        <p:nvSpPr>
          <p:cNvPr id="6" name="Rectangle 5"/>
          <p:cNvSpPr/>
          <p:nvPr/>
        </p:nvSpPr>
        <p:spPr>
          <a:xfrm>
            <a:off x="4297680" y="777240"/>
            <a:ext cx="3657600" cy="777240"/>
          </a:xfrm>
          <a:prstGeom prst="rect">
            <a:avLst/>
          </a:prstGeom>
          <a:solidFill>
            <a:srgbClr val="0D0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297680" y="777240"/>
            <a:ext cx="3657600" cy="25603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0" y="804672"/>
            <a:ext cx="3474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5051A"/>
                </a:solidFill>
              </a:rPr>
              <a:t>index.html — Dashboard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1078992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CCCCCC"/>
                </a:solidFill>
              </a:rPr>
              <a:t>4 iframes : Robot | LIDAR | Caméra | Bras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828800"/>
            <a:ext cx="2651760" cy="2011680"/>
          </a:xfrm>
          <a:prstGeom prst="rect">
            <a:avLst/>
          </a:prstGeom>
          <a:solidFill>
            <a:srgbClr val="0D0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828800"/>
            <a:ext cx="2651760" cy="41148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79" y="1865376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5051A"/>
                </a:solidFill>
              </a:rPr>
              <a:t>🕹️ Déplacement
Robot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2331720"/>
            <a:ext cx="2450592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CCCCCC"/>
                </a:solidFill>
              </a:rPr>
              <a:t>deplacement_robot.html
/joy_ihm (Joy)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37560" y="1828800"/>
            <a:ext cx="2651760" cy="2011680"/>
          </a:xfrm>
          <a:prstGeom prst="rect">
            <a:avLst/>
          </a:prstGeom>
          <a:solidFill>
            <a:srgbClr val="0D0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37560" y="1828800"/>
            <a:ext cx="2651760" cy="41148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29000" y="1865376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5051A"/>
                </a:solidFill>
              </a:rPr>
              <a:t>📡 Vision
LIDAR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47288" y="2331720"/>
            <a:ext cx="2450592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CCCCCC"/>
                </a:solidFill>
              </a:rPr>
              <a:t>vision_lidar.html
/scan (LaserScan) + Canvas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5080" y="1828800"/>
            <a:ext cx="2651760" cy="2011680"/>
          </a:xfrm>
          <a:prstGeom prst="rect">
            <a:avLst/>
          </a:prstGeom>
          <a:solidFill>
            <a:srgbClr val="0D0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55080" y="1828800"/>
            <a:ext cx="2651760" cy="41148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1865376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5051A"/>
                </a:solidFill>
              </a:rPr>
              <a:t>📷 Caméra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64808" y="2331720"/>
            <a:ext cx="2450592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CCCCCC"/>
                </a:solidFill>
              </a:rPr>
              <a:t>vision_camera.html
/cv_camera/.../compressed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72600" y="1828800"/>
            <a:ext cx="2651760" cy="2011680"/>
          </a:xfrm>
          <a:prstGeom prst="rect">
            <a:avLst/>
          </a:prstGeom>
          <a:solidFill>
            <a:srgbClr val="0D0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372600" y="1828800"/>
            <a:ext cx="2651760" cy="41148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64040" y="1865376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5051A"/>
                </a:solidFill>
              </a:rPr>
              <a:t>🦾 Bras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82328" y="2331720"/>
            <a:ext cx="2450592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CCCCCC"/>
                </a:solidFill>
              </a:rPr>
              <a:t>deplacement_bras.html
/choix_pos (Int16MultiArray)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46320" y="3977639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0E5FF"/>
                </a:solidFill>
              </a:rPr>
              <a:t>rosbridge_server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846320" y="4315968"/>
            <a:ext cx="2560320" cy="4572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46320" y="43891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CCCCCC"/>
                </a:solidFill>
              </a:rPr>
              <a:t>ws://robot_ip:9090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484632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E5FF"/>
                </a:solidFill>
              </a:rPr>
              <a:t>Corrections apportées 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" y="5166360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</a:rPr>
              <a:t>✅  Subscribers 2→5 corrigés (plus de duplicates subscriber1.subscribe())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0040" y="5440680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</a:rPr>
              <a:t>✅  Nom JS corrigé : vision-lidar.js → vision_lidar.js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0040" y="5715000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</a:rPr>
              <a:t>✅  IDs HTML uniques dans vision_camera.html (un seul id='image_sub')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0040" y="5989320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</a:rPr>
              <a:t>✅  Éléments DOM telémétrie ajoutés : vitesse1/2, inclinaison1/2, boussole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0040" y="6263640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</a:rPr>
              <a:t>✅  IP robot configurable dynamiquement via localStorage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0040" y="6537960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</a:rPr>
              <a:t>✅  Indicateurs connexion ROS 🟢/🔴 sur toutes les pages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0D0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457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E5FF"/>
                </a:solidFill>
              </a:rPr>
              <a:t>07 — Intégration &amp; Tests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502920"/>
            <a:ext cx="11274552" cy="54864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56692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</a:rPr>
              <a:t>Rescue.launch, Docker, Accéléromètre, Application Android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914400"/>
            <a:ext cx="3566160" cy="2286000"/>
          </a:xfrm>
          <a:prstGeom prst="rect">
            <a:avLst/>
          </a:prstGeom>
          <a:solidFill>
            <a:srgbClr val="0D0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914400"/>
            <a:ext cx="54864" cy="22860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9768" y="987552"/>
            <a:ext cx="33832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E5FF"/>
                </a:solidFill>
              </a:rPr>
              <a:t>📐  Accéléromètre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" y="1298448"/>
            <a:ext cx="3310128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 b="0">
                <a:solidFill>
                  <a:srgbClr val="CCCCCC"/>
                </a:solidFill>
              </a:rPr>
              <a:t>• Package : rms_accelerometre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CCCCCC"/>
                </a:solidFill>
              </a:rPr>
              <a:t>• Topics : /inclinaison1, /inclinaison2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CCCCCC"/>
                </a:solidFill>
              </a:rPr>
              <a:t>• Mesure l'inclinaison du robot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CCCCCC"/>
                </a:solidFill>
              </a:rPr>
              <a:t>• Utile pour flippers adaptatifs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CCCCCC"/>
                </a:solidFill>
              </a:rPr>
              <a:t>• Affiché en temps réel sur l'IHM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CCCCCC"/>
                </a:solidFill>
              </a:rPr>
              <a:t>• Init : Init_Accelero.launch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69080" y="914400"/>
            <a:ext cx="3840480" cy="2286000"/>
          </a:xfrm>
          <a:prstGeom prst="rect">
            <a:avLst/>
          </a:prstGeom>
          <a:solidFill>
            <a:srgbClr val="0D0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069080" y="914400"/>
            <a:ext cx="54864" cy="22860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78808" y="987552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E5FF"/>
                </a:solidFill>
              </a:rPr>
              <a:t>🚀  Rescue.launch — Intégration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15384" y="1298448"/>
            <a:ext cx="3584448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 b="0">
                <a:solidFill>
                  <a:srgbClr val="CCCCCC"/>
                </a:solidFill>
              </a:rPr>
              <a:t>• Lance tous les nodes en une commande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CCCCCC"/>
                </a:solidFill>
              </a:rPr>
              <a:t>• urg_node2 + hector_mapping + cv_camera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CCCCCC"/>
                </a:solidFill>
              </a:rPr>
              <a:t>• Bras automatique + Déplacement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CCCCCC"/>
                </a:solidFill>
              </a:rPr>
              <a:t>• rosbridge pour l'IHM Web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CCCCCC"/>
                </a:solidFill>
              </a:rPr>
              <a:t>• Configurable par paramètres YAML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92440" y="914400"/>
            <a:ext cx="3749039" cy="2286000"/>
          </a:xfrm>
          <a:prstGeom prst="rect">
            <a:avLst/>
          </a:prstGeom>
          <a:solidFill>
            <a:srgbClr val="0D0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92440" y="914400"/>
            <a:ext cx="54864" cy="22860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2167" y="987552"/>
            <a:ext cx="356615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E5FF"/>
                </a:solidFill>
              </a:rPr>
              <a:t>📱  Application Android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38744" y="1298448"/>
            <a:ext cx="3493007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 b="0">
                <a:solidFill>
                  <a:srgbClr val="CCCCCC"/>
                </a:solidFill>
              </a:rPr>
              <a:t>• Projet : RoboCup_app-main (Kotlin)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CCCCCC"/>
                </a:solidFill>
              </a:rPr>
              <a:t>• Interface de supervision tactile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CCCCCC"/>
                </a:solidFill>
              </a:rPr>
              <a:t>• Connexion via rosbridge WebSocket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CCCCCC"/>
                </a:solidFill>
              </a:rPr>
              <a:t>• Vue état du robot + caméra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CCCCCC"/>
                </a:solidFill>
              </a:rPr>
              <a:t>• Compatible tablette / téléphone Android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3383280"/>
            <a:ext cx="11521440" cy="2331720"/>
          </a:xfrm>
          <a:prstGeom prst="rect">
            <a:avLst/>
          </a:prstGeom>
          <a:solidFill>
            <a:srgbClr val="0D0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" y="3383280"/>
            <a:ext cx="11521440" cy="329184"/>
          </a:xfrm>
          <a:prstGeom prst="rect">
            <a:avLst/>
          </a:prstGeom>
          <a:solidFill>
            <a:srgbClr val="009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3401568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5051A"/>
                </a:solidFill>
              </a:rPr>
              <a:t>Environnement Docker — Développement et Test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7947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E5FF"/>
                </a:solidFill>
              </a:rPr>
              <a:t>1. Lancer Docker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114800"/>
            <a:ext cx="2651760" cy="1463040"/>
          </a:xfrm>
          <a:prstGeom prst="rect">
            <a:avLst/>
          </a:prstGeom>
          <a:solidFill>
            <a:srgbClr val="0303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4187952"/>
            <a:ext cx="2514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A0FFA0"/>
                </a:solidFill>
              </a:rPr>
              <a:t>docker run -it \
-v $(pwd)/RMS:/ros2_ws/src/RMS \
osrf/ros:jazzy-desktop bash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55848" y="37947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E5FF"/>
                </a:solidFill>
              </a:rPr>
              <a:t>2. Installer dépendances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355848" y="4114800"/>
            <a:ext cx="2651760" cy="1463040"/>
          </a:xfrm>
          <a:prstGeom prst="rect">
            <a:avLst/>
          </a:prstGeom>
          <a:solidFill>
            <a:srgbClr val="0303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447288" y="4187952"/>
            <a:ext cx="2514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A0FFA0"/>
                </a:solidFill>
              </a:rPr>
              <a:t>apt install ros-jazzy-urg-node2
ros-jazzy-diagnostic-updater
rosdep install ...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54496" y="37947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E5FF"/>
                </a:solidFill>
              </a:rPr>
              <a:t>3. Compiler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54496" y="4114800"/>
            <a:ext cx="2651760" cy="1463040"/>
          </a:xfrm>
          <a:prstGeom prst="rect">
            <a:avLst/>
          </a:prstGeom>
          <a:solidFill>
            <a:srgbClr val="0303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45936" y="4187952"/>
            <a:ext cx="2514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A0FFA0"/>
                </a:solidFill>
              </a:rPr>
              <a:t>cd /ros2_ws
colcon build \
--packages-select urg_node2 rms_lidar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53144" y="37947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E5FF"/>
                </a:solidFill>
              </a:rPr>
              <a:t>4. Lancer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153144" y="4114800"/>
            <a:ext cx="2651760" cy="1463040"/>
          </a:xfrm>
          <a:prstGeom prst="rect">
            <a:avLst/>
          </a:prstGeom>
          <a:solidFill>
            <a:srgbClr val="0303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244584" y="4187952"/>
            <a:ext cx="2514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A0FFA0"/>
                </a:solidFill>
              </a:rPr>
              <a:t>source install/setup.bash
ros2 launch rms_lidar
  Lidar.launch.py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0D0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457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E5FF"/>
                </a:solidFill>
              </a:rPr>
              <a:t>08 — Conclusion &amp; Perspectives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502920"/>
            <a:ext cx="11274552" cy="54864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868680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E5FF"/>
                </a:solidFill>
              </a:rPr>
              <a:t>Ce qui a été réalisé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CCCC"/>
                </a:solidFill>
              </a:rPr>
              <a:t>✅  Interface IHM Web complète (Dashboard 4 panneaux)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55064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CCCC"/>
                </a:solidFill>
              </a:rPr>
              <a:t>✅  Visualiseur LIDAR en temps réel (Canvas HTML5)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75688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CCCC"/>
                </a:solidFill>
              </a:rPr>
              <a:t>✅  Correction de tous les bugs de l'interface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496312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CCCC"/>
                </a:solidFill>
              </a:rPr>
              <a:t>✅  Navigation autonome avec Hector SLAM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916936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CCCC"/>
                </a:solidFill>
              </a:rPr>
              <a:t>✅  Contrôle du bras (automatique + manuel)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337560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CCCC"/>
                </a:solidFill>
              </a:rPr>
              <a:t>✅  Flux caméra + détection QR Code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758184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CCCC"/>
                </a:solidFill>
              </a:rPr>
              <a:t>✅  Déploiement Docker + ROS 2 Jazzy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178808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CCCC"/>
                </a:solidFill>
              </a:rPr>
              <a:t>✅  Application Android de supervision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86868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E5FF"/>
                </a:solidFill>
              </a:rPr>
              <a:t>Perspectives d'amélioration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1234440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CCCC"/>
                </a:solidFill>
              </a:rPr>
              <a:t>🔮  Navigation 3D avec LIDAR 3D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1655064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CCCC"/>
                </a:solidFill>
              </a:rPr>
              <a:t>🔮  Détection et localisation de victimes (IA)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2075688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CCCC"/>
                </a:solidFill>
              </a:rPr>
              <a:t>🔮  Interface mobile améliorée (PWA)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2496312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CCCC"/>
                </a:solidFill>
              </a:rPr>
              <a:t>🔮  Contrôle du robot via joystick physique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2916936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CCCC"/>
                </a:solidFill>
              </a:rPr>
              <a:t>🔮  Mapping en temps réel affiché dans l'IHM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3337560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CCCC"/>
                </a:solidFill>
              </a:rPr>
              <a:t>🔮  Communication multi-robots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5669280"/>
            <a:ext cx="12188952" cy="1188720"/>
          </a:xfrm>
          <a:prstGeom prst="rect">
            <a:avLst/>
          </a:prstGeom>
          <a:solidFill>
            <a:srgbClr val="0D0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5669280"/>
            <a:ext cx="12188952" cy="64008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58064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0E5FF"/>
                </a:solidFill>
              </a:rPr>
              <a:t>Merci pour votre attention — Questions 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26364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Groupe RMS — IATIC4 — UVSQ  |  RoboCup Rescue 2025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